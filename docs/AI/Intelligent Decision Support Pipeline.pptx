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artel Sans"/>
      <p:regular r:id="rId14"/>
      <p:bold r:id="rId15"/>
    </p:embeddedFont>
    <p:embeddedFont>
      <p:font typeface="Kani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rtelSans-bold.fntdata"/><Relationship Id="rId14" Type="http://schemas.openxmlformats.org/officeDocument/2006/relationships/font" Target="fonts/MartelSans-regular.fntdata"/><Relationship Id="rId17" Type="http://schemas.openxmlformats.org/officeDocument/2006/relationships/font" Target="fonts/Kanit-bold.fntdata"/><Relationship Id="rId16" Type="http://schemas.openxmlformats.org/officeDocument/2006/relationships/font" Target="fonts/Kanit-regular.fntdata"/><Relationship Id="rId5" Type="http://schemas.openxmlformats.org/officeDocument/2006/relationships/slide" Target="slides/slide1.xml"/><Relationship Id="rId19" Type="http://schemas.openxmlformats.org/officeDocument/2006/relationships/font" Target="fonts/Kanit-boldItalic.fntdata"/><Relationship Id="rId6" Type="http://schemas.openxmlformats.org/officeDocument/2006/relationships/slide" Target="slides/slide2.xml"/><Relationship Id="rId18" Type="http://schemas.openxmlformats.org/officeDocument/2006/relationships/font" Target="fonts/Kani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280190" y="124194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JusticeFlow AI</a:t>
            </a:r>
            <a:endParaRPr b="0" i="0" sz="4450" u="none" cap="none" strike="noStrike"/>
          </a:p>
        </p:txBody>
      </p:sp>
      <p:sp>
        <p:nvSpPr>
          <p:cNvPr id="55" name="Google Shape;55;p12"/>
          <p:cNvSpPr/>
          <p:nvPr/>
        </p:nvSpPr>
        <p:spPr>
          <a:xfrm>
            <a:off x="6280190" y="2290882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6150"/>
              <a:buFont typeface="Kanit"/>
              <a:buNone/>
            </a:pPr>
            <a:r>
              <a:rPr b="0" i="0" lang="en-US" sz="61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Intelligent Decision Support Pipeline</a:t>
            </a:r>
            <a:endParaRPr b="0" i="0" sz="6150" u="none" cap="none" strike="noStrike"/>
          </a:p>
        </p:txBody>
      </p:sp>
      <p:sp>
        <p:nvSpPr>
          <p:cNvPr id="56" name="Google Shape;56;p12"/>
          <p:cNvSpPr/>
          <p:nvPr/>
        </p:nvSpPr>
        <p:spPr>
          <a:xfrm>
            <a:off x="6280190" y="458747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Spatial Clustering, Predictive Priority, and Optimal Workload Assignment</a:t>
            </a:r>
            <a:endParaRPr b="0" i="0" sz="1750" u="none" cap="none" strike="noStrike"/>
          </a:p>
        </p:txBody>
      </p:sp>
      <p:sp>
        <p:nvSpPr>
          <p:cNvPr id="57" name="Google Shape;57;p12"/>
          <p:cNvSpPr/>
          <p:nvPr/>
        </p:nvSpPr>
        <p:spPr>
          <a:xfrm>
            <a:off x="6280190" y="5568434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Presented by: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Muhammad Furqan, Muhammad Abu Bakar,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and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Abdullah Muaz Abbasi</a:t>
            </a:r>
            <a:endParaRPr b="0" i="0" sz="175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6280190" y="6549390"/>
            <a:ext cx="1724739" cy="426244"/>
          </a:xfrm>
          <a:prstGeom prst="roundRect">
            <a:avLst>
              <a:gd fmla="val 1788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6278" y="667178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/>
          <p:nvPr/>
        </p:nvSpPr>
        <p:spPr>
          <a:xfrm>
            <a:off x="6688455" y="6617375"/>
            <a:ext cx="118038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POSTGRESQL</a:t>
            </a:r>
            <a:endParaRPr b="0" i="0" sz="1400" u="none" cap="none" strike="noStrike"/>
          </a:p>
        </p:txBody>
      </p:sp>
      <p:sp>
        <p:nvSpPr>
          <p:cNvPr id="61" name="Google Shape;61;p12"/>
          <p:cNvSpPr/>
          <p:nvPr/>
        </p:nvSpPr>
        <p:spPr>
          <a:xfrm>
            <a:off x="8118277" y="6549390"/>
            <a:ext cx="3270885" cy="426244"/>
          </a:xfrm>
          <a:prstGeom prst="roundRect">
            <a:avLst>
              <a:gd fmla="val 1788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365" y="667178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/>
          <p:nvPr/>
        </p:nvSpPr>
        <p:spPr>
          <a:xfrm>
            <a:off x="8526542" y="6617375"/>
            <a:ext cx="272653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PYTHON (SCIKIT-LEARN/SCIPY)</a:t>
            </a:r>
            <a:endParaRPr b="0" i="0" sz="1400" u="none" cap="none" strike="noStrike"/>
          </a:p>
        </p:txBody>
      </p:sp>
      <p:sp>
        <p:nvSpPr>
          <p:cNvPr id="64" name="Google Shape;64;p12"/>
          <p:cNvSpPr/>
          <p:nvPr/>
        </p:nvSpPr>
        <p:spPr>
          <a:xfrm>
            <a:off x="11502509" y="6549390"/>
            <a:ext cx="868799" cy="426244"/>
          </a:xfrm>
          <a:prstGeom prst="roundRect">
            <a:avLst>
              <a:gd fmla="val 1788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38598" y="667178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/>
          <p:nvPr/>
        </p:nvSpPr>
        <p:spPr>
          <a:xfrm>
            <a:off x="11910774" y="6617375"/>
            <a:ext cx="324445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C++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3179" y="589478"/>
            <a:ext cx="5287923" cy="705064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694611" y="583406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900"/>
              <a:buFont typeface="Kanit"/>
              <a:buNone/>
            </a:pPr>
            <a:r>
              <a:rPr b="0" i="0" lang="en-US" sz="3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The Core Problem</a:t>
            </a:r>
            <a:endParaRPr b="0" i="0" sz="390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694611" y="1463873"/>
            <a:ext cx="7754779" cy="1452086"/>
          </a:xfrm>
          <a:prstGeom prst="roundRect">
            <a:avLst>
              <a:gd fmla="val 7557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671751" y="1463873"/>
            <a:ext cx="91440" cy="1452086"/>
          </a:xfrm>
          <a:prstGeom prst="roundRect">
            <a:avLst>
              <a:gd fmla="val 9116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984409" y="1685092"/>
            <a:ext cx="320325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No Real-Time Crime Visibility</a:t>
            </a:r>
            <a:endParaRPr b="0" i="0" sz="1950" u="none" cap="none" strike="noStrike"/>
          </a:p>
        </p:txBody>
      </p:sp>
      <p:sp>
        <p:nvSpPr>
          <p:cNvPr id="78" name="Google Shape;78;p13"/>
          <p:cNvSpPr/>
          <p:nvPr/>
        </p:nvSpPr>
        <p:spPr>
          <a:xfrm>
            <a:off x="984409" y="2099429"/>
            <a:ext cx="7243763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Police lack real-time visibility into emerging crime zones, making proactive deployment nearly impossible.</a:t>
            </a:r>
            <a:endParaRPr b="0" i="0" sz="1550" u="none" cap="none" strike="noStrike"/>
          </a:p>
        </p:txBody>
      </p:sp>
      <p:sp>
        <p:nvSpPr>
          <p:cNvPr id="79" name="Google Shape;79;p13"/>
          <p:cNvSpPr/>
          <p:nvPr/>
        </p:nvSpPr>
        <p:spPr>
          <a:xfrm>
            <a:off x="694611" y="3089553"/>
            <a:ext cx="7754779" cy="1452086"/>
          </a:xfrm>
          <a:prstGeom prst="roundRect">
            <a:avLst>
              <a:gd fmla="val 7557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671751" y="3089553"/>
            <a:ext cx="91440" cy="1452086"/>
          </a:xfrm>
          <a:prstGeom prst="roundRect">
            <a:avLst>
              <a:gd fmla="val 9116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984409" y="3310771"/>
            <a:ext cx="264878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Uniform Case Treatment</a:t>
            </a:r>
            <a:endParaRPr b="0" i="0" sz="1950" u="none" cap="none" strike="noStrike"/>
          </a:p>
        </p:txBody>
      </p:sp>
      <p:sp>
        <p:nvSpPr>
          <p:cNvPr id="82" name="Google Shape;82;p13"/>
          <p:cNvSpPr/>
          <p:nvPr/>
        </p:nvSpPr>
        <p:spPr>
          <a:xfrm>
            <a:off x="984409" y="3725108"/>
            <a:ext cx="7243763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Every FIR is treated equally, delaying justice for critical cases that demand immediate attention.</a:t>
            </a:r>
            <a:endParaRPr b="0" i="0" sz="155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694611" y="4715232"/>
            <a:ext cx="7754779" cy="1452086"/>
          </a:xfrm>
          <a:prstGeom prst="roundRect">
            <a:avLst>
              <a:gd fmla="val 7557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71751" y="4715232"/>
            <a:ext cx="91440" cy="1452086"/>
          </a:xfrm>
          <a:prstGeom prst="roundRect">
            <a:avLst>
              <a:gd fmla="val 9116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984409" y="4936450"/>
            <a:ext cx="272807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Manual Case Assignment</a:t>
            </a:r>
            <a:endParaRPr b="0" i="0" sz="195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984409" y="5350788"/>
            <a:ext cx="7243763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Case assignment is manual, leading to officer burnout and skill mismatch across the force.</a:t>
            </a:r>
            <a:endParaRPr b="0" i="0" sz="155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992267" y="6557843"/>
            <a:ext cx="7457123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1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"A modern police force cannot operate reactively. We built three distinct AI agents to answer three questions: Where are crimes happening? Which cases are most urgent? And who is the best officer to solve them?"</a:t>
            </a:r>
            <a:endParaRPr b="0" i="0" sz="155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694611" y="6362581"/>
            <a:ext cx="22860" cy="1283494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744260" y="613053"/>
            <a:ext cx="7972425" cy="66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150"/>
              <a:buFont typeface="Kanit"/>
              <a:buNone/>
            </a:pPr>
            <a:r>
              <a:rPr b="0" i="0" lang="en-US" sz="41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Agent 1 — Crime Hotspot Analyzer</a:t>
            </a:r>
            <a:endParaRPr b="0" i="0" sz="41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744260" y="1676162"/>
            <a:ext cx="3298865" cy="406241"/>
          </a:xfrm>
          <a:prstGeom prst="roundRect">
            <a:avLst>
              <a:gd fmla="val 17588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879396" y="1747480"/>
            <a:ext cx="3028593" cy="263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1300"/>
              <a:buFont typeface="Martel Sans"/>
              <a:buNone/>
            </a:pPr>
            <a:r>
              <a:rPr b="0" i="0" lang="en-US" sz="13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DBSCAN · UNSUPERVISED LEARNING</a:t>
            </a:r>
            <a:endParaRPr b="0" i="0" sz="1300" u="none" cap="none" strike="noStrike"/>
          </a:p>
        </p:txBody>
      </p:sp>
      <p:pic>
        <p:nvPicPr>
          <p:cNvPr descr="preencoded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260" y="2830235"/>
            <a:ext cx="4262438" cy="42624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5532953" y="2505908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050"/>
              <a:buFont typeface="Kanit"/>
              <a:buNone/>
            </a:pPr>
            <a:r>
              <a:rPr b="0" i="0" lang="en-US" sz="20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How It Works</a:t>
            </a:r>
            <a:endParaRPr b="0" i="0" sz="2050" u="none" cap="none" strike="noStrike"/>
          </a:p>
        </p:txBody>
      </p:sp>
      <p:sp>
        <p:nvSpPr>
          <p:cNvPr id="99" name="Google Shape;99;p14"/>
          <p:cNvSpPr/>
          <p:nvPr/>
        </p:nvSpPr>
        <p:spPr>
          <a:xfrm>
            <a:off x="5532953" y="3037522"/>
            <a:ext cx="8360688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1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Algorithm:</a:t>
            </a: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Unsupervised Learning (DBSCAN)</a:t>
            </a:r>
            <a:endParaRPr b="0" i="0" sz="16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5532953" y="3546396"/>
            <a:ext cx="8360688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1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Features:</a:t>
            </a: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</a:t>
            </a:r>
            <a:r>
              <a:rPr b="0" i="0" lang="en-US" sz="16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incident_lat</a:t>
            </a: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</a:t>
            </a:r>
            <a:r>
              <a:rPr b="0" i="0" lang="en-US" sz="16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incident_lon</a:t>
            </a: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over the last 6 months</a:t>
            </a:r>
            <a:endParaRPr b="0" i="0" sz="165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5532953" y="4105751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050"/>
              <a:buFont typeface="Kanit"/>
              <a:buNone/>
            </a:pPr>
            <a:r>
              <a:rPr b="0" i="0" lang="en-US" sz="20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Why DBSCAN?</a:t>
            </a:r>
            <a:endParaRPr b="0" i="0" sz="205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5532953" y="4637365"/>
            <a:ext cx="8360688" cy="1003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50"/>
              <a:buFont typeface="Martel Sans"/>
              <a:buNone/>
            </a:pP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Unlike K-Means, DBSCAN doesn't force us to guess the number of hotspots (</a:t>
            </a:r>
            <a:r>
              <a:rPr b="0" i="1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K</a:t>
            </a:r>
            <a:r>
              <a:rPr b="0" i="0" lang="en-US" sz="16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). It finds dense geographical clusters of crime naturally and ignores isolated "noise" incidents.</a:t>
            </a:r>
            <a:endParaRPr b="0" i="0" sz="16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5532953" y="5865495"/>
            <a:ext cx="8360688" cy="1526738"/>
          </a:xfrm>
          <a:prstGeom prst="roundRect">
            <a:avLst>
              <a:gd fmla="val 585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5599" y="6158508"/>
            <a:ext cx="265748" cy="21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6223992" y="6117908"/>
            <a:ext cx="7457003" cy="98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artel Sans"/>
              <a:buNone/>
            </a:pPr>
            <a:r>
              <a:rPr b="0" i="1" lang="en-US" sz="16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"Our first agent scans the public database for recent crime coordinates. It identifies dense geographic clusters so the SHO knows exactly where to deploy active patrol units today."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756642" y="606385"/>
            <a:ext cx="9168408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250"/>
              <a:buFont typeface="Kanit"/>
              <a:buNone/>
            </a:pPr>
            <a:r>
              <a:rPr b="0" i="0" lang="en-US" sz="42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Agent 2 — Case Priority Recommender</a:t>
            </a:r>
            <a:endParaRPr b="0" i="0" sz="425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756642" y="1694140"/>
            <a:ext cx="3860125" cy="415052"/>
          </a:xfrm>
          <a:prstGeom prst="roundRect">
            <a:avLst>
              <a:gd fmla="val 17502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893921" y="1766530"/>
            <a:ext cx="3585567" cy="270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1350"/>
              <a:buFont typeface="Martel Sans"/>
              <a:buNone/>
            </a:pPr>
            <a:r>
              <a:rPr b="0" i="0" lang="en-US" sz="135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RANDOM FOREST · SUPERVISED LEARNING</a:t>
            </a:r>
            <a:endParaRPr b="0" i="0" sz="1350" u="none" cap="none" strike="noStrike"/>
          </a:p>
        </p:txBody>
      </p:sp>
      <p:pic>
        <p:nvPicPr>
          <p:cNvPr descr="preencoded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642" y="2857976"/>
            <a:ext cx="424815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539859" y="2546985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100"/>
              <a:buFont typeface="Kanit"/>
              <a:buNone/>
            </a:pPr>
            <a:r>
              <a:rPr b="0" i="0" lang="en-US" sz="21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How It Works</a:t>
            </a:r>
            <a:endParaRPr b="0" i="0" sz="210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5539859" y="3090743"/>
            <a:ext cx="8341519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1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Algorithm: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Supervised Learning (Random Forest Classifier)</a:t>
            </a:r>
            <a:endParaRPr b="0" i="0" sz="170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5539859" y="3613904"/>
            <a:ext cx="8341519" cy="36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1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Features: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</a:t>
            </a:r>
            <a:r>
              <a:rPr b="0" i="0" lang="en-US" sz="17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case_type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(Label Encoded) and </a:t>
            </a:r>
            <a:r>
              <a:rPr b="0" i="0" lang="en-US" sz="17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station_id</a:t>
            </a:r>
            <a:endParaRPr b="0" i="0" sz="170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5539859" y="4167545"/>
            <a:ext cx="8341519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1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Output: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Predicts if a new FIR should be </a:t>
            </a:r>
            <a:r>
              <a:rPr b="1" i="0" lang="en-US" sz="17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HIGH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or </a:t>
            </a:r>
            <a:r>
              <a:rPr b="1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MEDIUM</a:t>
            </a: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priority</a:t>
            </a:r>
            <a:endParaRPr b="0" i="0" sz="170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5539859" y="4711303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100"/>
              <a:buFont typeface="Kanit"/>
              <a:buNone/>
            </a:pPr>
            <a:r>
              <a:rPr b="0" i="0" lang="en-US" sz="21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Why Random Forest?</a:t>
            </a:r>
            <a:endParaRPr b="0" i="0" sz="210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5539859" y="5255062"/>
            <a:ext cx="8341519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Random Forest prevents overfitting and gives us high accuracy (80%+) to instantly flag urgent cases for the Station Commander.</a:t>
            </a:r>
            <a:endParaRPr b="0" i="0" sz="170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5539859" y="6162437"/>
            <a:ext cx="8341519" cy="1228844"/>
          </a:xfrm>
          <a:prstGeom prst="roundRect">
            <a:avLst>
              <a:gd fmla="val 738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957" y="6464260"/>
            <a:ext cx="270153" cy="2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/>
          <p:nvPr/>
        </p:nvSpPr>
        <p:spPr>
          <a:xfrm>
            <a:off x="6242209" y="6422350"/>
            <a:ext cx="7423071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artel Sans"/>
              <a:buNone/>
            </a:pPr>
            <a:r>
              <a:rPr b="0" i="1" lang="en-US" sz="17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"When a new FIR is registered, this agent evaluates it against historical resolution data."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2057400" y="461486"/>
            <a:ext cx="615279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000"/>
              <a:buFont typeface="Kanit"/>
              <a:buNone/>
            </a:pPr>
            <a:r>
              <a:rPr b="0" i="0" lang="en-US" sz="30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Agent 3 — Officer Workload Balancer</a:t>
            </a:r>
            <a:endParaRPr b="0" i="0" sz="30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2057400" y="1142524"/>
            <a:ext cx="3097887" cy="269677"/>
          </a:xfrm>
          <a:prstGeom prst="roundRect">
            <a:avLst>
              <a:gd fmla="val 18988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2156460" y="1195864"/>
            <a:ext cx="2899767" cy="16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950"/>
              <a:buFont typeface="Martel Sans"/>
              <a:buNone/>
            </a:pPr>
            <a:r>
              <a:rPr b="0" i="0" lang="en-US" sz="95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HUNGARIAN ALGORITHM · BIPARTITE MATCHING</a:t>
            </a:r>
            <a:endParaRPr b="0" i="0" sz="950" u="none" cap="none" strike="noStrike"/>
          </a:p>
        </p:txBody>
      </p:sp>
      <p:pic>
        <p:nvPicPr>
          <p:cNvPr descr="preencoded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642467"/>
            <a:ext cx="5071943" cy="507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1642467"/>
            <a:ext cx="5071943" cy="50719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7508677" y="3601760"/>
            <a:ext cx="359485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Algorithm: Bipartite Matching Optimization</a:t>
            </a:r>
            <a:endParaRPr b="0" i="0" sz="150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508677" y="3942278"/>
            <a:ext cx="5071943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Martel Sans"/>
              <a:buNone/>
            </a:pP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Hungarian Algorithm delivers a </a:t>
            </a:r>
            <a:r>
              <a:rPr b="1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mathematically optimal distribution</a:t>
            </a: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of cases to officers in </a:t>
            </a:r>
            <a:r>
              <a:rPr b="0" i="1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O(n^3)</a:t>
            </a: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time — ensuring no officer is overloaded while every case is assigned to the most suitable person available.</a:t>
            </a:r>
            <a:endParaRPr b="0" i="0" sz="120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2057400" y="6944678"/>
            <a:ext cx="5206603" cy="823436"/>
          </a:xfrm>
          <a:prstGeom prst="roundRect">
            <a:avLst>
              <a:gd fmla="val 77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217420" y="7104698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Optimal</a:t>
            </a:r>
            <a:endParaRPr b="0" i="0" sz="150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2217420" y="7404259"/>
            <a:ext cx="4886563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Martel Sans"/>
              <a:buNone/>
            </a:pP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Guaranteed minimum total cost</a:t>
            </a:r>
            <a:endParaRPr b="0" i="0" sz="1200" u="none" cap="none" strike="noStrike"/>
          </a:p>
        </p:txBody>
      </p:sp>
      <p:sp>
        <p:nvSpPr>
          <p:cNvPr id="139" name="Google Shape;139;p16"/>
          <p:cNvSpPr/>
          <p:nvPr/>
        </p:nvSpPr>
        <p:spPr>
          <a:xfrm>
            <a:off x="7366397" y="6944678"/>
            <a:ext cx="5206603" cy="823436"/>
          </a:xfrm>
          <a:prstGeom prst="roundRect">
            <a:avLst>
              <a:gd fmla="val 77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526417" y="7104698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Efficient</a:t>
            </a:r>
            <a:endParaRPr b="0" i="0" sz="150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7526417" y="7404259"/>
            <a:ext cx="4886563" cy="20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Martel Sans"/>
              <a:buNone/>
            </a:pP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Polynomial time complexity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706993" y="742831"/>
            <a:ext cx="5050393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950"/>
              <a:buFont typeface="Kanit"/>
              <a:buNone/>
            </a:pPr>
            <a:r>
              <a:rPr b="0" i="0" lang="en-US" sz="39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The Cost Matrix</a:t>
            </a:r>
            <a:endParaRPr b="0" i="0" sz="395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06993" y="1733907"/>
            <a:ext cx="13216414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Hungarian algorithm is only as good as its inputs. We engineered a strict Cost Matrix — heavily penalising overworked officers to force the algorithm to find less-busy alternatives.</a:t>
            </a:r>
            <a:endParaRPr b="0" i="0" sz="1550" u="none" cap="none" strike="noStrike"/>
          </a:p>
        </p:txBody>
      </p:sp>
      <p:pic>
        <p:nvPicPr>
          <p:cNvPr descr="preencoded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993" y="2749748"/>
            <a:ext cx="6361748" cy="329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7569279" y="2749748"/>
            <a:ext cx="3090862" cy="2482810"/>
          </a:xfrm>
          <a:prstGeom prst="roundRect">
            <a:avLst>
              <a:gd fmla="val 4420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546419" y="2749748"/>
            <a:ext cx="91440" cy="2482810"/>
          </a:xfrm>
          <a:prstGeom prst="roundRect">
            <a:avLst>
              <a:gd fmla="val 92791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862649" y="2974538"/>
            <a:ext cx="2572703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Workload Penalty — 35%</a:t>
            </a:r>
            <a:endParaRPr b="0" i="0" sz="19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7862649" y="3785711"/>
            <a:ext cx="2572703" cy="1222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Exponential penalty for overworked officers. Assigning a 10th case carries a steep cost.</a:t>
            </a:r>
            <a:endParaRPr b="0" i="0" sz="155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10840045" y="2749748"/>
            <a:ext cx="3090982" cy="2482810"/>
          </a:xfrm>
          <a:prstGeom prst="roundRect">
            <a:avLst>
              <a:gd fmla="val 4420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10817185" y="2749748"/>
            <a:ext cx="91440" cy="2482810"/>
          </a:xfrm>
          <a:prstGeom prst="roundRect">
            <a:avLst>
              <a:gd fmla="val 92791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1133415" y="2974538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Skill Mismatch — 30%</a:t>
            </a:r>
            <a:endParaRPr b="0" i="0" sz="195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11133415" y="3470077"/>
            <a:ext cx="2572822" cy="91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Matches crime type to officer qualifications for better outcomes.</a:t>
            </a:r>
            <a:endParaRPr b="0" i="0" sz="155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7569279" y="5412462"/>
            <a:ext cx="3090862" cy="1871782"/>
          </a:xfrm>
          <a:prstGeom prst="roundRect">
            <a:avLst>
              <a:gd fmla="val 5862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546419" y="5412462"/>
            <a:ext cx="91440" cy="1871782"/>
          </a:xfrm>
          <a:prstGeom prst="roundRect">
            <a:avLst>
              <a:gd fmla="val 92791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862649" y="5637252"/>
            <a:ext cx="2557939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Rank Suitability — 20%</a:t>
            </a:r>
            <a:endParaRPr b="0" i="0" sz="195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7862649" y="6132790"/>
            <a:ext cx="2572703" cy="91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Enforces minimum CrPC rank required for severe crimes.</a:t>
            </a:r>
            <a:endParaRPr b="0" i="0" sz="1550" u="none" cap="none" strike="noStrike"/>
          </a:p>
        </p:txBody>
      </p:sp>
      <p:sp>
        <p:nvSpPr>
          <p:cNvPr id="162" name="Google Shape;162;p17"/>
          <p:cNvSpPr/>
          <p:nvPr/>
        </p:nvSpPr>
        <p:spPr>
          <a:xfrm>
            <a:off x="10840045" y="5412462"/>
            <a:ext cx="3090982" cy="1871782"/>
          </a:xfrm>
          <a:prstGeom prst="roundRect">
            <a:avLst>
              <a:gd fmla="val 5862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10817185" y="5412462"/>
            <a:ext cx="91440" cy="1871782"/>
          </a:xfrm>
          <a:prstGeom prst="roundRect">
            <a:avLst>
              <a:gd fmla="val 92791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11133415" y="5637252"/>
            <a:ext cx="2572822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Geographic Distance — 15%</a:t>
            </a:r>
            <a:endParaRPr b="0" i="0" sz="1950" u="none" cap="none" strike="noStrike"/>
          </a:p>
        </p:txBody>
      </p:sp>
      <p:sp>
        <p:nvSpPr>
          <p:cNvPr id="165" name="Google Shape;165;p17"/>
          <p:cNvSpPr/>
          <p:nvPr/>
        </p:nvSpPr>
        <p:spPr>
          <a:xfrm>
            <a:off x="11133415" y="6448425"/>
            <a:ext cx="2572822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Haversine distance from station to crime scene.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1393" y="587097"/>
            <a:ext cx="5291495" cy="70554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682228" y="578882"/>
            <a:ext cx="5632133" cy="6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800"/>
              <a:buFont typeface="Kanit"/>
              <a:buNone/>
            </a:pPr>
            <a:r>
              <a:rPr b="0" i="0" lang="en-US" sz="38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Cross-Course Architecture</a:t>
            </a:r>
            <a:endParaRPr b="0" i="0" sz="380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682228" y="1439228"/>
            <a:ext cx="7779544" cy="86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These aren't just Jupyter Notebook scripts. They are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production-grade OS processes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the Python AI packs its own telemetry into raw C-bytes and transmits it via POSIX FIFO pipes so the C++ backend can read it in real-time.</a:t>
            </a:r>
            <a:endParaRPr b="0" i="0" sz="150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682228" y="2497336"/>
            <a:ext cx="3806071" cy="2782848"/>
          </a:xfrm>
          <a:prstGeom prst="roundRect">
            <a:avLst>
              <a:gd fmla="val 294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84753" y="2699861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488" y="2860596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884753" y="3451979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DB Security</a:t>
            </a:r>
            <a:endParaRPr b="0" i="0" sz="190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884753" y="3857030"/>
            <a:ext cx="3401020" cy="1159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Agents read from public tables but INSERT only to the analytics schema —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data corruption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risk to operational records.</a:t>
            </a:r>
            <a:endParaRPr b="0" i="0" sz="1500" u="none" cap="none" strike="noStrike"/>
          </a:p>
        </p:txBody>
      </p:sp>
      <p:sp>
        <p:nvSpPr>
          <p:cNvPr id="180" name="Google Shape;180;p18"/>
          <p:cNvSpPr/>
          <p:nvPr/>
        </p:nvSpPr>
        <p:spPr>
          <a:xfrm>
            <a:off x="4655701" y="2497336"/>
            <a:ext cx="3806071" cy="2782848"/>
          </a:xfrm>
          <a:prstGeom prst="roundRect">
            <a:avLst>
              <a:gd fmla="val 294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858226" y="2699861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8961" y="2860596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4858226" y="3451979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OS Isolation</a:t>
            </a:r>
            <a:endParaRPr b="0" i="0" sz="1900" u="none" cap="none" strike="noStrike"/>
          </a:p>
        </p:txBody>
      </p:sp>
      <p:sp>
        <p:nvSpPr>
          <p:cNvPr id="184" name="Google Shape;184;p18"/>
          <p:cNvSpPr/>
          <p:nvPr/>
        </p:nvSpPr>
        <p:spPr>
          <a:xfrm>
            <a:off x="4858226" y="3857030"/>
            <a:ext cx="3401020" cy="1220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Agents run as isolated child processes spawned via </a:t>
            </a:r>
            <a:r>
              <a:rPr b="0" i="0" lang="en-US" sz="15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fork()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+ </a:t>
            </a:r>
            <a:r>
              <a:rPr b="0" i="0" lang="en-US" sz="15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exec()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ensuring complete runtime separation.</a:t>
            </a:r>
            <a:endParaRPr b="0" i="0" sz="1500" u="none" cap="none" strike="noStrike"/>
          </a:p>
        </p:txBody>
      </p:sp>
      <p:sp>
        <p:nvSpPr>
          <p:cNvPr id="185" name="Google Shape;185;p18"/>
          <p:cNvSpPr/>
          <p:nvPr/>
        </p:nvSpPr>
        <p:spPr>
          <a:xfrm>
            <a:off x="682228" y="5447586"/>
            <a:ext cx="7779544" cy="2203013"/>
          </a:xfrm>
          <a:prstGeom prst="roundRect">
            <a:avLst>
              <a:gd fmla="val 371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884753" y="5650111"/>
            <a:ext cx="584716" cy="584716"/>
          </a:xfrm>
          <a:prstGeom prst="roundRect">
            <a:avLst>
              <a:gd fmla="val 1563679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488" y="5810845"/>
            <a:ext cx="263128" cy="26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884753" y="6402229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IPC Telemetry</a:t>
            </a:r>
            <a:endParaRPr b="0" i="0" sz="1900" u="none" cap="none" strike="noStrike"/>
          </a:p>
        </p:txBody>
      </p:sp>
      <p:sp>
        <p:nvSpPr>
          <p:cNvPr id="189" name="Google Shape;189;p18"/>
          <p:cNvSpPr/>
          <p:nvPr/>
        </p:nvSpPr>
        <p:spPr>
          <a:xfrm>
            <a:off x="884753" y="6807279"/>
            <a:ext cx="7374493" cy="640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Agents compress status into C-bytes (</a:t>
            </a:r>
            <a:r>
              <a:rPr b="0" i="0" lang="en-US" sz="15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struct.pack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) and transmit via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POSIX Named Pipes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(</a:t>
            </a:r>
            <a:r>
              <a:rPr b="0" i="0" lang="en-US" sz="15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os.O_NONBLOCK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) for real-time reads.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3179" y="589478"/>
            <a:ext cx="5287923" cy="705064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694611" y="637342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900"/>
              <a:buFont typeface="Kanit"/>
              <a:buNone/>
            </a:pPr>
            <a:r>
              <a:rPr b="0" i="0" lang="en-US" sz="3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Conclusion</a:t>
            </a:r>
            <a:endParaRPr b="0" i="0" sz="390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694611" y="1517809"/>
            <a:ext cx="7711440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3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5350"/>
              <a:buFont typeface="Kanit"/>
              <a:buNone/>
            </a:pPr>
            <a:r>
              <a:rPr b="0" i="0" lang="en-US" sz="53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AI Suggests. SHO Decides.</a:t>
            </a:r>
            <a:endParaRPr b="0" i="0" sz="535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694611" y="2634020"/>
            <a:ext cx="7754779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JusticeFlow AI delivers </a:t>
            </a:r>
            <a:r>
              <a:rPr b="1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data-driven policing</a:t>
            </a: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without replacing human authority. Three intelligent agents — spatial clustering, predictive priority, and optimal workload assignment — work in concert to give Station House Officers the clarity and confidence to act decisively.</a:t>
            </a:r>
            <a:endParaRPr b="0" i="0" sz="1550" u="none" cap="none" strike="noStrike"/>
          </a:p>
        </p:txBody>
      </p:sp>
      <p:pic>
        <p:nvPicPr>
          <p:cNvPr descr="preencoded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611" y="4019907"/>
            <a:ext cx="992267" cy="119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1860471" y="421826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Where?</a:t>
            </a:r>
            <a:endParaRPr b="0" i="0" sz="1950" u="none" cap="none" strike="noStrike"/>
          </a:p>
        </p:txBody>
      </p:sp>
      <p:sp>
        <p:nvSpPr>
          <p:cNvPr id="202" name="Google Shape;202;p19"/>
          <p:cNvSpPr/>
          <p:nvPr/>
        </p:nvSpPr>
        <p:spPr>
          <a:xfrm>
            <a:off x="1860471" y="4632603"/>
            <a:ext cx="6588919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Hotspot zones identified</a:t>
            </a:r>
            <a:endParaRPr b="0" i="0" sz="1550" u="none" cap="none" strike="noStrike"/>
          </a:p>
        </p:txBody>
      </p:sp>
      <p:pic>
        <p:nvPicPr>
          <p:cNvPr descr="preencoded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611" y="5210651"/>
            <a:ext cx="992267" cy="119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1860471" y="5409009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What Priority?</a:t>
            </a:r>
            <a:endParaRPr b="0" i="0" sz="1950" u="none" cap="none" strike="noStrike"/>
          </a:p>
        </p:txBody>
      </p:sp>
      <p:sp>
        <p:nvSpPr>
          <p:cNvPr id="205" name="Google Shape;205;p19"/>
          <p:cNvSpPr/>
          <p:nvPr/>
        </p:nvSpPr>
        <p:spPr>
          <a:xfrm>
            <a:off x="1860471" y="5823347"/>
            <a:ext cx="6588919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Cases flagged instantly</a:t>
            </a:r>
            <a:endParaRPr b="0" i="0" sz="1550" u="none" cap="none" strike="noStrike"/>
          </a:p>
        </p:txBody>
      </p:sp>
      <p:pic>
        <p:nvPicPr>
          <p:cNvPr descr="preencoded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611" y="6401395"/>
            <a:ext cx="992267" cy="119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1860471" y="6599753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Who?</a:t>
            </a:r>
            <a:endParaRPr b="0" i="0" sz="195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1860471" y="7014091"/>
            <a:ext cx="6588919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Best officer assigned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6280190" y="1447086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8900"/>
              <a:buFont typeface="Kanit"/>
              <a:buNone/>
            </a:pPr>
            <a:r>
              <a:rPr b="0" i="0" lang="en-US" sz="8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Thank You</a:t>
            </a:r>
            <a:endParaRPr b="0" i="0" sz="890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6280190" y="320492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 welcome your questions and feedback.</a:t>
            </a:r>
            <a:endParaRPr b="0" i="0" sz="175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6280190" y="3879652"/>
            <a:ext cx="7556421" cy="16907"/>
          </a:xfrm>
          <a:prstGeom prst="rect">
            <a:avLst/>
          </a:prstGeom>
          <a:solidFill>
            <a:srgbClr val="2C324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280190" y="4208383"/>
            <a:ext cx="3664744" cy="823198"/>
          </a:xfrm>
          <a:prstGeom prst="roundRect">
            <a:avLst>
              <a:gd fmla="val 115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514624" y="44428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Muhammad Furqan</a:t>
            </a:r>
            <a:endParaRPr b="0" i="0" sz="2200" u="none" cap="none" strike="noStrike"/>
          </a:p>
        </p:txBody>
      </p:sp>
      <p:sp>
        <p:nvSpPr>
          <p:cNvPr id="221" name="Google Shape;221;p20"/>
          <p:cNvSpPr/>
          <p:nvPr/>
        </p:nvSpPr>
        <p:spPr>
          <a:xfrm>
            <a:off x="10171748" y="4208383"/>
            <a:ext cx="3664863" cy="823198"/>
          </a:xfrm>
          <a:prstGeom prst="roundRect">
            <a:avLst>
              <a:gd fmla="val 115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10406182" y="4442817"/>
            <a:ext cx="284333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Muhammad Abu Bakar</a:t>
            </a:r>
            <a:endParaRPr b="0" i="0" sz="2200" u="none" cap="none" strike="noStrike"/>
          </a:p>
        </p:txBody>
      </p:sp>
      <p:sp>
        <p:nvSpPr>
          <p:cNvPr id="223" name="Google Shape;223;p20"/>
          <p:cNvSpPr/>
          <p:nvPr/>
        </p:nvSpPr>
        <p:spPr>
          <a:xfrm>
            <a:off x="6280190" y="5258395"/>
            <a:ext cx="7556421" cy="823198"/>
          </a:xfrm>
          <a:prstGeom prst="roundRect">
            <a:avLst>
              <a:gd fmla="val 115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6514624" y="54928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Abdullah Muaz Abbasi</a:t>
            </a:r>
            <a:endParaRPr b="0" i="0" sz="2200" u="none" cap="none" strike="noStrike"/>
          </a:p>
        </p:txBody>
      </p:sp>
      <p:sp>
        <p:nvSpPr>
          <p:cNvPr id="225" name="Google Shape;225;p20"/>
          <p:cNvSpPr/>
          <p:nvPr/>
        </p:nvSpPr>
        <p:spPr>
          <a:xfrm>
            <a:off x="6280190" y="6336744"/>
            <a:ext cx="1739979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3898" y="6466761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6696075" y="6412349"/>
            <a:ext cx="118038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POSTGRESQL</a:t>
            </a:r>
            <a:endParaRPr b="0" i="0" sz="1400" u="none" cap="none" strike="noStrike"/>
          </a:p>
        </p:txBody>
      </p:sp>
      <p:sp>
        <p:nvSpPr>
          <p:cNvPr id="228" name="Google Shape;228;p20"/>
          <p:cNvSpPr/>
          <p:nvPr/>
        </p:nvSpPr>
        <p:spPr>
          <a:xfrm>
            <a:off x="8133517" y="6336744"/>
            <a:ext cx="1322308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7225" y="6466761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8549402" y="6412349"/>
            <a:ext cx="76271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PYTHON</a:t>
            </a:r>
            <a:endParaRPr b="0" i="0" sz="1400" u="none" cap="none" strike="noStrike"/>
          </a:p>
        </p:txBody>
      </p:sp>
      <p:sp>
        <p:nvSpPr>
          <p:cNvPr id="231" name="Google Shape;231;p20"/>
          <p:cNvSpPr/>
          <p:nvPr/>
        </p:nvSpPr>
        <p:spPr>
          <a:xfrm>
            <a:off x="9569172" y="6336744"/>
            <a:ext cx="884039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2881" y="6466761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9985058" y="6412349"/>
            <a:ext cx="324445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C++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