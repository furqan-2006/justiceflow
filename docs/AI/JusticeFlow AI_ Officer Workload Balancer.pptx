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8229600" cx="14630400"/>
  <p:notesSz cx="8229600" cy="14630400"/>
  <p:embeddedFontLst>
    <p:embeddedFont>
      <p:font typeface="Martel Sans"/>
      <p:regular r:id="rId11"/>
      <p:bold r:id="rId12"/>
    </p:embeddedFont>
    <p:embeddedFont>
      <p:font typeface="Kanit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artelSans-regular.fntdata"/><Relationship Id="rId10" Type="http://schemas.openxmlformats.org/officeDocument/2006/relationships/slide" Target="slides/slide6.xml"/><Relationship Id="rId13" Type="http://schemas.openxmlformats.org/officeDocument/2006/relationships/font" Target="fonts/Kanit-regular.fntdata"/><Relationship Id="rId12" Type="http://schemas.openxmlformats.org/officeDocument/2006/relationships/font" Target="fonts/Martel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Kanit-italic.fntdata"/><Relationship Id="rId14" Type="http://schemas.openxmlformats.org/officeDocument/2006/relationships/font" Target="fonts/Kanit-bold.fntdata"/><Relationship Id="rId16" Type="http://schemas.openxmlformats.org/officeDocument/2006/relationships/font" Target="fonts/Kani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Relationship Id="rId7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48" y="608290"/>
            <a:ext cx="5259586" cy="701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9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JusticeFlow AI: Officer Workload Balancer</a:t>
            </a:r>
            <a:endParaRPr b="0" i="0" sz="4450" u="none" cap="none" strike="noStrike"/>
          </a:p>
        </p:txBody>
      </p:sp>
      <p:sp>
        <p:nvSpPr>
          <p:cNvPr id="43" name="Google Shape;43;p9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Presented by: </a:t>
            </a: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Abdullah Muaz Abbasi, Muhammad Furqan, Muhammad Abu Bakar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62" y="605909"/>
            <a:ext cx="5263158" cy="701766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0"/>
          <p:cNvSpPr/>
          <p:nvPr/>
        </p:nvSpPr>
        <p:spPr>
          <a:xfrm>
            <a:off x="6267807" y="653534"/>
            <a:ext cx="5582007" cy="697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350"/>
              <a:buFont typeface="Kanit"/>
              <a:buNone/>
            </a:pPr>
            <a:r>
              <a:rPr b="0" i="0" lang="en-US" sz="43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The Core Problem</a:t>
            </a:r>
            <a:endParaRPr b="0" i="0" sz="4350" u="none" cap="none" strike="noStrike"/>
          </a:p>
        </p:txBody>
      </p:sp>
      <p:sp>
        <p:nvSpPr>
          <p:cNvPr id="52" name="Google Shape;52;p10"/>
          <p:cNvSpPr/>
          <p:nvPr/>
        </p:nvSpPr>
        <p:spPr>
          <a:xfrm>
            <a:off x="6267807" y="1680924"/>
            <a:ext cx="7581186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Manual case assignment in law enforcement is broken. Without intelligent automation, the system fails officers, victims, and the public alike.</a:t>
            </a:r>
            <a:endParaRPr b="0" i="0" sz="1750" u="none" cap="none" strike="noStrike"/>
          </a:p>
        </p:txBody>
      </p:sp>
      <p:sp>
        <p:nvSpPr>
          <p:cNvPr id="53" name="Google Shape;53;p10"/>
          <p:cNvSpPr/>
          <p:nvPr/>
        </p:nvSpPr>
        <p:spPr>
          <a:xfrm>
            <a:off x="6267807" y="2991088"/>
            <a:ext cx="3680698" cy="2714030"/>
          </a:xfrm>
          <a:prstGeom prst="roundRect">
            <a:avLst>
              <a:gd fmla="val 3455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>
            <a:off x="6498669" y="3221950"/>
            <a:ext cx="2790944" cy="348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Kanit"/>
              <a:buNone/>
            </a:pPr>
            <a:r>
              <a:rPr b="0" i="0" lang="en-US" sz="2150" u="none" cap="none" strike="noStrik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🔥</a:t>
            </a:r>
            <a:r>
              <a:rPr b="0" i="0" lang="en-US" sz="21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 Burnout</a:t>
            </a:r>
            <a:endParaRPr b="0" i="0" sz="2150" u="none" cap="none" strike="noStrike"/>
          </a:p>
        </p:txBody>
      </p:sp>
      <p:sp>
        <p:nvSpPr>
          <p:cNvPr id="55" name="Google Shape;55;p10"/>
          <p:cNvSpPr/>
          <p:nvPr/>
        </p:nvSpPr>
        <p:spPr>
          <a:xfrm>
            <a:off x="6498669" y="3702606"/>
            <a:ext cx="3218974" cy="177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Officers are assigned cases without regard for their current workload, leading to exhaustion and reduced performance.</a:t>
            </a:r>
            <a:endParaRPr b="0" i="0" sz="1750" u="none" cap="none" strike="noStrike"/>
          </a:p>
        </p:txBody>
      </p:sp>
      <p:sp>
        <p:nvSpPr>
          <p:cNvPr id="56" name="Google Shape;56;p10"/>
          <p:cNvSpPr/>
          <p:nvPr/>
        </p:nvSpPr>
        <p:spPr>
          <a:xfrm>
            <a:off x="10168295" y="2991088"/>
            <a:ext cx="3680698" cy="2714030"/>
          </a:xfrm>
          <a:prstGeom prst="roundRect">
            <a:avLst>
              <a:gd fmla="val 3455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0"/>
          <p:cNvSpPr/>
          <p:nvPr/>
        </p:nvSpPr>
        <p:spPr>
          <a:xfrm>
            <a:off x="10399157" y="3221950"/>
            <a:ext cx="2790944" cy="348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Kanit"/>
              <a:buNone/>
            </a:pPr>
            <a:r>
              <a:rPr b="0" i="0" lang="en-US" sz="2150" u="none" cap="none" strike="noStrik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🎯</a:t>
            </a:r>
            <a:r>
              <a:rPr b="0" i="0" lang="en-US" sz="21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 Skill Mismatch</a:t>
            </a:r>
            <a:endParaRPr b="0" i="0" sz="2150" u="none" cap="none" strike="noStrike"/>
          </a:p>
        </p:txBody>
      </p:sp>
      <p:sp>
        <p:nvSpPr>
          <p:cNvPr id="58" name="Google Shape;58;p10"/>
          <p:cNvSpPr/>
          <p:nvPr/>
        </p:nvSpPr>
        <p:spPr>
          <a:xfrm>
            <a:off x="10399157" y="3702606"/>
            <a:ext cx="321897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Cases are assigned randomly, ignoring an officer's expertise — a homicide detective may get a traffic incident.</a:t>
            </a:r>
            <a:endParaRPr b="0" i="0" sz="1750" u="none" cap="none" strike="noStrike"/>
          </a:p>
        </p:txBody>
      </p:sp>
      <p:sp>
        <p:nvSpPr>
          <p:cNvPr id="59" name="Google Shape;59;p10"/>
          <p:cNvSpPr/>
          <p:nvPr/>
        </p:nvSpPr>
        <p:spPr>
          <a:xfrm>
            <a:off x="6267807" y="5924907"/>
            <a:ext cx="7581186" cy="1651040"/>
          </a:xfrm>
          <a:prstGeom prst="roundRect">
            <a:avLst>
              <a:gd fmla="val 5680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0"/>
          <p:cNvSpPr/>
          <p:nvPr/>
        </p:nvSpPr>
        <p:spPr>
          <a:xfrm>
            <a:off x="6498669" y="6155769"/>
            <a:ext cx="2790944" cy="348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Kanit"/>
              <a:buNone/>
            </a:pPr>
            <a:r>
              <a:rPr b="0" i="0" lang="en-US" sz="2150" u="none" cap="none" strike="noStrike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rPr>
              <a:t>⏳</a:t>
            </a:r>
            <a:r>
              <a:rPr b="0" i="0" lang="en-US" sz="21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 Slower Justice</a:t>
            </a:r>
            <a:endParaRPr b="0" i="0" sz="2150" u="none" cap="none" strike="noStrike"/>
          </a:p>
        </p:txBody>
      </p:sp>
      <p:sp>
        <p:nvSpPr>
          <p:cNvPr id="61" name="Google Shape;61;p10"/>
          <p:cNvSpPr/>
          <p:nvPr/>
        </p:nvSpPr>
        <p:spPr>
          <a:xfrm>
            <a:off x="6498669" y="6636425"/>
            <a:ext cx="7119461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Inefficient assignments delay investigations, backlog cases, and ultimately slow the delivery of justice.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/>
          <p:nvPr/>
        </p:nvSpPr>
        <p:spPr>
          <a:xfrm>
            <a:off x="2179677" y="463153"/>
            <a:ext cx="5648801" cy="465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900"/>
              <a:buFont typeface="Kanit"/>
              <a:buNone/>
            </a:pPr>
            <a:r>
              <a:rPr b="0" i="0" lang="en-US" sz="29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Our AI Solution: Bipartite Matching</a:t>
            </a:r>
            <a:endParaRPr b="0" i="0" sz="2900" u="none" cap="none" strike="noStrike"/>
          </a:p>
        </p:txBody>
      </p:sp>
      <p:sp>
        <p:nvSpPr>
          <p:cNvPr id="68" name="Google Shape;68;p11"/>
          <p:cNvSpPr/>
          <p:nvPr/>
        </p:nvSpPr>
        <p:spPr>
          <a:xfrm>
            <a:off x="2179677" y="3464481"/>
            <a:ext cx="4953953" cy="394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50"/>
              <a:buFont typeface="Martel Sans"/>
              <a:buNone/>
            </a:pPr>
            <a:r>
              <a:rPr b="0" i="0" lang="en-US" sz="11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We model the assignment problem as a </a:t>
            </a:r>
            <a:r>
              <a:rPr b="1" i="0" lang="en-US" sz="11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bipartite graph</a:t>
            </a:r>
            <a:r>
              <a:rPr b="0" i="0" lang="en-US" sz="11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— two distinct sets with no internal connections.</a:t>
            </a:r>
            <a:endParaRPr b="0" i="0" sz="1150" u="none" cap="none" strike="noStrike"/>
          </a:p>
        </p:txBody>
      </p:sp>
      <p:pic>
        <p:nvPicPr>
          <p:cNvPr descr="preencoded.png" id="69" name="Google Shape;6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4390" y="1184672"/>
            <a:ext cx="4953953" cy="4953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0" name="Google Shape;7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4390" y="1184672"/>
            <a:ext cx="4953953" cy="4953953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1"/>
          <p:cNvSpPr/>
          <p:nvPr/>
        </p:nvSpPr>
        <p:spPr>
          <a:xfrm>
            <a:off x="2179677" y="6358414"/>
            <a:ext cx="3358515" cy="1407914"/>
          </a:xfrm>
          <a:prstGeom prst="roundRect">
            <a:avLst>
              <a:gd fmla="val 5196" name="adj"/>
            </a:avLst>
          </a:prstGeom>
          <a:solidFill>
            <a:srgbClr val="FFFFFF"/>
          </a:solidFill>
          <a:ln cap="flat" cmpd="sng" w="152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1"/>
          <p:cNvSpPr/>
          <p:nvPr/>
        </p:nvSpPr>
        <p:spPr>
          <a:xfrm>
            <a:off x="2164437" y="6358414"/>
            <a:ext cx="60960" cy="1407914"/>
          </a:xfrm>
          <a:prstGeom prst="roundRect">
            <a:avLst>
              <a:gd fmla="val 102558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1"/>
          <p:cNvSpPr/>
          <p:nvPr/>
        </p:nvSpPr>
        <p:spPr>
          <a:xfrm>
            <a:off x="2389465" y="6522482"/>
            <a:ext cx="1860590" cy="232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Kanit"/>
              <a:buNone/>
            </a:pPr>
            <a:r>
              <a:rPr b="0" i="0" lang="en-US" sz="14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Set A: Officers</a:t>
            </a:r>
            <a:endParaRPr b="0" i="0" sz="1450" u="none" cap="none" strike="noStrike"/>
          </a:p>
        </p:txBody>
      </p:sp>
      <p:sp>
        <p:nvSpPr>
          <p:cNvPr id="74" name="Google Shape;74;p11"/>
          <p:cNvSpPr/>
          <p:nvPr/>
        </p:nvSpPr>
        <p:spPr>
          <a:xfrm>
            <a:off x="2389465" y="6813590"/>
            <a:ext cx="2984659" cy="591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50"/>
              <a:buFont typeface="Martel Sans"/>
              <a:buNone/>
            </a:pPr>
            <a:r>
              <a:rPr b="0" i="0" lang="en-US" sz="11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Each officer is a node carrying attributes: rank, skill profile, current workload, and location.</a:t>
            </a:r>
            <a:endParaRPr b="0" i="0" sz="1150" u="none" cap="none" strike="noStrike"/>
          </a:p>
        </p:txBody>
      </p:sp>
      <p:sp>
        <p:nvSpPr>
          <p:cNvPr id="75" name="Google Shape;75;p11"/>
          <p:cNvSpPr/>
          <p:nvPr/>
        </p:nvSpPr>
        <p:spPr>
          <a:xfrm>
            <a:off x="5635823" y="6358414"/>
            <a:ext cx="3358634" cy="1407914"/>
          </a:xfrm>
          <a:prstGeom prst="roundRect">
            <a:avLst>
              <a:gd fmla="val 5196" name="adj"/>
            </a:avLst>
          </a:prstGeom>
          <a:solidFill>
            <a:srgbClr val="FFFFFF"/>
          </a:solidFill>
          <a:ln cap="flat" cmpd="sng" w="152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1"/>
          <p:cNvSpPr/>
          <p:nvPr/>
        </p:nvSpPr>
        <p:spPr>
          <a:xfrm>
            <a:off x="5620583" y="6358414"/>
            <a:ext cx="60960" cy="1407914"/>
          </a:xfrm>
          <a:prstGeom prst="roundRect">
            <a:avLst>
              <a:gd fmla="val 102558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1"/>
          <p:cNvSpPr/>
          <p:nvPr/>
        </p:nvSpPr>
        <p:spPr>
          <a:xfrm>
            <a:off x="5845612" y="6522482"/>
            <a:ext cx="1860590" cy="232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Kanit"/>
              <a:buNone/>
            </a:pPr>
            <a:r>
              <a:rPr b="0" i="0" lang="en-US" sz="14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Set B: Cases</a:t>
            </a:r>
            <a:endParaRPr b="0" i="0" sz="1450" u="none" cap="none" strike="noStrike"/>
          </a:p>
        </p:txBody>
      </p:sp>
      <p:sp>
        <p:nvSpPr>
          <p:cNvPr id="78" name="Google Shape;78;p11"/>
          <p:cNvSpPr/>
          <p:nvPr/>
        </p:nvSpPr>
        <p:spPr>
          <a:xfrm>
            <a:off x="5845612" y="6813590"/>
            <a:ext cx="2984778" cy="394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50"/>
              <a:buFont typeface="Martel Sans"/>
              <a:buNone/>
            </a:pPr>
            <a:r>
              <a:rPr b="0" i="0" lang="en-US" sz="11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Each case is a node with attributes: type, complexity, location, and priority level.</a:t>
            </a:r>
            <a:endParaRPr b="0" i="0" sz="1150" u="none" cap="none" strike="noStrike"/>
          </a:p>
        </p:txBody>
      </p:sp>
      <p:sp>
        <p:nvSpPr>
          <p:cNvPr id="79" name="Google Shape;79;p11"/>
          <p:cNvSpPr/>
          <p:nvPr/>
        </p:nvSpPr>
        <p:spPr>
          <a:xfrm>
            <a:off x="9092089" y="6358414"/>
            <a:ext cx="3358515" cy="1407914"/>
          </a:xfrm>
          <a:prstGeom prst="roundRect">
            <a:avLst>
              <a:gd fmla="val 5196" name="adj"/>
            </a:avLst>
          </a:prstGeom>
          <a:solidFill>
            <a:srgbClr val="FFFFFF"/>
          </a:solidFill>
          <a:ln cap="flat" cmpd="sng" w="152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1"/>
          <p:cNvSpPr/>
          <p:nvPr/>
        </p:nvSpPr>
        <p:spPr>
          <a:xfrm>
            <a:off x="9076849" y="6358414"/>
            <a:ext cx="60960" cy="1407914"/>
          </a:xfrm>
          <a:prstGeom prst="roundRect">
            <a:avLst>
              <a:gd fmla="val 102558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1"/>
          <p:cNvSpPr/>
          <p:nvPr/>
        </p:nvSpPr>
        <p:spPr>
          <a:xfrm>
            <a:off x="9301877" y="6522482"/>
            <a:ext cx="1860590" cy="232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Kanit"/>
              <a:buNone/>
            </a:pPr>
            <a:r>
              <a:rPr b="0" i="0" lang="en-US" sz="14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Optimal Edges</a:t>
            </a:r>
            <a:endParaRPr b="0" i="0" sz="1450" u="none" cap="none" strike="noStrike"/>
          </a:p>
        </p:txBody>
      </p:sp>
      <p:sp>
        <p:nvSpPr>
          <p:cNvPr id="82" name="Google Shape;82;p11"/>
          <p:cNvSpPr/>
          <p:nvPr/>
        </p:nvSpPr>
        <p:spPr>
          <a:xfrm>
            <a:off x="9301877" y="6813590"/>
            <a:ext cx="2984659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50"/>
              <a:buFont typeface="Martel Sans"/>
              <a:buNone/>
            </a:pPr>
            <a:r>
              <a:rPr b="0" i="0" lang="en-US" sz="11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The algorithm finds the optimal lines connecting officers to cases — minimising total cost across all assignments.</a:t>
            </a:r>
            <a:endParaRPr b="0" i="0" sz="11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/>
          <p:nvPr/>
        </p:nvSpPr>
        <p:spPr>
          <a:xfrm>
            <a:off x="712351" y="598408"/>
            <a:ext cx="7076956" cy="5980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3750"/>
              <a:buFont typeface="Kanit"/>
              <a:buNone/>
            </a:pPr>
            <a:r>
              <a:rPr b="0" i="0" lang="en-US" sz="37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The Secret Sauce: The Cost Matrix</a:t>
            </a:r>
            <a:endParaRPr b="0" i="0" sz="3750" u="none" cap="none" strike="noStrike"/>
          </a:p>
        </p:txBody>
      </p:sp>
      <p:sp>
        <p:nvSpPr>
          <p:cNvPr id="89" name="Google Shape;89;p12"/>
          <p:cNvSpPr/>
          <p:nvPr/>
        </p:nvSpPr>
        <p:spPr>
          <a:xfrm>
            <a:off x="712351" y="1519357"/>
            <a:ext cx="13205579" cy="282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Martel Sans"/>
              <a:buNone/>
            </a:pP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Every officer-case pairing is scored using a weighted cost matrix. The lower the cost, the better the fit.</a:t>
            </a:r>
            <a:endParaRPr b="0" i="0" sz="1500" u="none" cap="none" strike="noStrike"/>
          </a:p>
        </p:txBody>
      </p:sp>
      <p:pic>
        <p:nvPicPr>
          <p:cNvPr descr="preencoded.png" id="90" name="Google Shape;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351" y="2164675"/>
            <a:ext cx="6369248" cy="312360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2"/>
          <p:cNvSpPr/>
          <p:nvPr/>
        </p:nvSpPr>
        <p:spPr>
          <a:xfrm>
            <a:off x="7556183" y="2164675"/>
            <a:ext cx="3103840" cy="2561749"/>
          </a:xfrm>
          <a:prstGeom prst="roundRect">
            <a:avLst>
              <a:gd fmla="val 3138" name="adj"/>
            </a:avLst>
          </a:prstGeom>
          <a:solidFill>
            <a:srgbClr val="FFFFFF"/>
          </a:solidFill>
          <a:ln cap="flat" cmpd="sng" w="22850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"/>
          <p:cNvSpPr/>
          <p:nvPr/>
        </p:nvSpPr>
        <p:spPr>
          <a:xfrm>
            <a:off x="7579043" y="2187535"/>
            <a:ext cx="3058120" cy="574119"/>
          </a:xfrm>
          <a:prstGeom prst="roundRect">
            <a:avLst>
              <a:gd fmla="val 9223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2"/>
          <p:cNvSpPr/>
          <p:nvPr/>
        </p:nvSpPr>
        <p:spPr>
          <a:xfrm>
            <a:off x="8964573" y="2291358"/>
            <a:ext cx="287060" cy="358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50"/>
              <a:buFont typeface="Kanit"/>
              <a:buNone/>
            </a:pPr>
            <a:r>
              <a:rPr b="0" i="0" lang="en-US" sz="22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1</a:t>
            </a:r>
            <a:endParaRPr b="0" i="0" sz="2250" u="none" cap="none" strike="noStrike"/>
          </a:p>
        </p:txBody>
      </p:sp>
      <p:sp>
        <p:nvSpPr>
          <p:cNvPr id="94" name="Google Shape;94;p12"/>
          <p:cNvSpPr/>
          <p:nvPr/>
        </p:nvSpPr>
        <p:spPr>
          <a:xfrm>
            <a:off x="7770376" y="2923103"/>
            <a:ext cx="2392323" cy="298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850"/>
              <a:buFont typeface="Kanit"/>
              <a:buNone/>
            </a:pPr>
            <a:r>
              <a:rPr b="0" i="0" lang="en-US" sz="18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35% — Workload</a:t>
            </a:r>
            <a:endParaRPr b="0" i="0" sz="1850" u="none" cap="none" strike="noStrike"/>
          </a:p>
        </p:txBody>
      </p:sp>
      <p:sp>
        <p:nvSpPr>
          <p:cNvPr id="95" name="Google Shape;95;p12"/>
          <p:cNvSpPr/>
          <p:nvPr/>
        </p:nvSpPr>
        <p:spPr>
          <a:xfrm>
            <a:off x="7770376" y="3383518"/>
            <a:ext cx="2675453" cy="1128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Martel Sans"/>
              <a:buNone/>
            </a:pP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Heavily penalises assigning cases to officers already carrying 8–9 cases using an </a:t>
            </a:r>
            <a:r>
              <a:rPr b="1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exponential curve</a:t>
            </a: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.</a:t>
            </a:r>
            <a:endParaRPr b="0" i="0" sz="1500" u="none" cap="none" strike="noStrike"/>
          </a:p>
        </p:txBody>
      </p:sp>
      <p:sp>
        <p:nvSpPr>
          <p:cNvPr id="96" name="Google Shape;96;p12"/>
          <p:cNvSpPr/>
          <p:nvPr/>
        </p:nvSpPr>
        <p:spPr>
          <a:xfrm>
            <a:off x="10821472" y="2164675"/>
            <a:ext cx="3103959" cy="2561749"/>
          </a:xfrm>
          <a:prstGeom prst="roundRect">
            <a:avLst>
              <a:gd fmla="val 3138" name="adj"/>
            </a:avLst>
          </a:prstGeom>
          <a:solidFill>
            <a:srgbClr val="FFFFFF"/>
          </a:solidFill>
          <a:ln cap="flat" cmpd="sng" w="22850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2"/>
          <p:cNvSpPr/>
          <p:nvPr/>
        </p:nvSpPr>
        <p:spPr>
          <a:xfrm>
            <a:off x="10844332" y="2187535"/>
            <a:ext cx="3058239" cy="574119"/>
          </a:xfrm>
          <a:prstGeom prst="roundRect">
            <a:avLst>
              <a:gd fmla="val 9223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2"/>
          <p:cNvSpPr/>
          <p:nvPr/>
        </p:nvSpPr>
        <p:spPr>
          <a:xfrm>
            <a:off x="12229862" y="2291358"/>
            <a:ext cx="287060" cy="358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50"/>
              <a:buFont typeface="Kanit"/>
              <a:buNone/>
            </a:pPr>
            <a:r>
              <a:rPr b="0" i="0" lang="en-US" sz="22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2</a:t>
            </a:r>
            <a:endParaRPr b="0" i="0" sz="2250" u="none" cap="none" strike="noStrike"/>
          </a:p>
        </p:txBody>
      </p:sp>
      <p:sp>
        <p:nvSpPr>
          <p:cNvPr id="99" name="Google Shape;99;p12"/>
          <p:cNvSpPr/>
          <p:nvPr/>
        </p:nvSpPr>
        <p:spPr>
          <a:xfrm>
            <a:off x="11035665" y="2923103"/>
            <a:ext cx="2392323" cy="298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850"/>
              <a:buFont typeface="Kanit"/>
              <a:buNone/>
            </a:pPr>
            <a:r>
              <a:rPr b="0" i="0" lang="en-US" sz="18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30% — Skill Match</a:t>
            </a:r>
            <a:endParaRPr b="0" i="0" sz="1850" u="none" cap="none" strike="noStrike"/>
          </a:p>
        </p:txBody>
      </p:sp>
      <p:sp>
        <p:nvSpPr>
          <p:cNvPr id="100" name="Google Shape;100;p12"/>
          <p:cNvSpPr/>
          <p:nvPr/>
        </p:nvSpPr>
        <p:spPr>
          <a:xfrm>
            <a:off x="11035665" y="3383518"/>
            <a:ext cx="2675573" cy="846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Martel Sans"/>
              <a:buNone/>
            </a:pP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Matches case type to officer specialisation for higher-quality investigations.</a:t>
            </a:r>
            <a:endParaRPr b="0" i="0" sz="1500" u="none" cap="none" strike="noStrike"/>
          </a:p>
        </p:txBody>
      </p:sp>
      <p:sp>
        <p:nvSpPr>
          <p:cNvPr id="101" name="Google Shape;101;p12"/>
          <p:cNvSpPr/>
          <p:nvPr/>
        </p:nvSpPr>
        <p:spPr>
          <a:xfrm>
            <a:off x="7556183" y="4887873"/>
            <a:ext cx="3103840" cy="2561749"/>
          </a:xfrm>
          <a:prstGeom prst="roundRect">
            <a:avLst>
              <a:gd fmla="val 3138" name="adj"/>
            </a:avLst>
          </a:prstGeom>
          <a:solidFill>
            <a:srgbClr val="FFFFFF"/>
          </a:solidFill>
          <a:ln cap="flat" cmpd="sng" w="22850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2"/>
          <p:cNvSpPr/>
          <p:nvPr/>
        </p:nvSpPr>
        <p:spPr>
          <a:xfrm>
            <a:off x="7579043" y="4910733"/>
            <a:ext cx="3058120" cy="574119"/>
          </a:xfrm>
          <a:prstGeom prst="roundRect">
            <a:avLst>
              <a:gd fmla="val 9223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2"/>
          <p:cNvSpPr/>
          <p:nvPr/>
        </p:nvSpPr>
        <p:spPr>
          <a:xfrm>
            <a:off x="8964573" y="5014555"/>
            <a:ext cx="287060" cy="358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50"/>
              <a:buFont typeface="Kanit"/>
              <a:buNone/>
            </a:pPr>
            <a:r>
              <a:rPr b="0" i="0" lang="en-US" sz="22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3</a:t>
            </a:r>
            <a:endParaRPr b="0" i="0" sz="2250" u="none" cap="none" strike="noStrike"/>
          </a:p>
        </p:txBody>
      </p:sp>
      <p:sp>
        <p:nvSpPr>
          <p:cNvPr id="104" name="Google Shape;104;p12"/>
          <p:cNvSpPr/>
          <p:nvPr/>
        </p:nvSpPr>
        <p:spPr>
          <a:xfrm>
            <a:off x="7770376" y="5646301"/>
            <a:ext cx="2392323" cy="298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850"/>
              <a:buFont typeface="Kanit"/>
              <a:buNone/>
            </a:pPr>
            <a:r>
              <a:rPr b="0" i="0" lang="en-US" sz="18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20% — Rank</a:t>
            </a:r>
            <a:endParaRPr b="0" i="0" sz="1850" u="none" cap="none" strike="noStrike"/>
          </a:p>
        </p:txBody>
      </p:sp>
      <p:sp>
        <p:nvSpPr>
          <p:cNvPr id="105" name="Google Shape;105;p12"/>
          <p:cNvSpPr/>
          <p:nvPr/>
        </p:nvSpPr>
        <p:spPr>
          <a:xfrm>
            <a:off x="7770376" y="6106716"/>
            <a:ext cx="2675453" cy="846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Martel Sans"/>
              <a:buNone/>
            </a:pP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Ensures seniority-appropriate case distribution across the force.</a:t>
            </a:r>
            <a:endParaRPr b="0" i="0" sz="1500" u="none" cap="none" strike="noStrike"/>
          </a:p>
        </p:txBody>
      </p:sp>
      <p:sp>
        <p:nvSpPr>
          <p:cNvPr id="106" name="Google Shape;106;p12"/>
          <p:cNvSpPr/>
          <p:nvPr/>
        </p:nvSpPr>
        <p:spPr>
          <a:xfrm>
            <a:off x="10821472" y="4887873"/>
            <a:ext cx="3103959" cy="2561749"/>
          </a:xfrm>
          <a:prstGeom prst="roundRect">
            <a:avLst>
              <a:gd fmla="val 3138" name="adj"/>
            </a:avLst>
          </a:prstGeom>
          <a:solidFill>
            <a:srgbClr val="FFFFFF"/>
          </a:solidFill>
          <a:ln cap="flat" cmpd="sng" w="22850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2"/>
          <p:cNvSpPr/>
          <p:nvPr/>
        </p:nvSpPr>
        <p:spPr>
          <a:xfrm>
            <a:off x="10844332" y="4910733"/>
            <a:ext cx="3058239" cy="574119"/>
          </a:xfrm>
          <a:prstGeom prst="roundRect">
            <a:avLst>
              <a:gd fmla="val 9223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2"/>
          <p:cNvSpPr/>
          <p:nvPr/>
        </p:nvSpPr>
        <p:spPr>
          <a:xfrm>
            <a:off x="12229862" y="5014555"/>
            <a:ext cx="287060" cy="358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50"/>
              <a:buFont typeface="Kanit"/>
              <a:buNone/>
            </a:pPr>
            <a:r>
              <a:rPr b="0" i="0" lang="en-US" sz="22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4</a:t>
            </a:r>
            <a:endParaRPr b="0" i="0" sz="2250" u="none" cap="none" strike="noStrike"/>
          </a:p>
        </p:txBody>
      </p:sp>
      <p:sp>
        <p:nvSpPr>
          <p:cNvPr id="109" name="Google Shape;109;p12"/>
          <p:cNvSpPr/>
          <p:nvPr/>
        </p:nvSpPr>
        <p:spPr>
          <a:xfrm>
            <a:off x="11035665" y="5646301"/>
            <a:ext cx="2392323" cy="298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850"/>
              <a:buFont typeface="Kanit"/>
              <a:buNone/>
            </a:pPr>
            <a:r>
              <a:rPr b="0" i="0" lang="en-US" sz="18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15% — Location</a:t>
            </a:r>
            <a:endParaRPr b="0" i="0" sz="1850" u="none" cap="none" strike="noStrike"/>
          </a:p>
        </p:txBody>
      </p:sp>
      <p:sp>
        <p:nvSpPr>
          <p:cNvPr id="110" name="Google Shape;110;p12"/>
          <p:cNvSpPr/>
          <p:nvPr/>
        </p:nvSpPr>
        <p:spPr>
          <a:xfrm>
            <a:off x="11035665" y="6106716"/>
            <a:ext cx="2675573" cy="1128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Martel Sans"/>
              <a:buNone/>
            </a:pP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Uses the </a:t>
            </a:r>
            <a:r>
              <a:rPr b="1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Haversine Formula</a:t>
            </a: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to calculate real-world geographic distance between officer and case.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"/>
          <p:cNvSpPr/>
          <p:nvPr/>
        </p:nvSpPr>
        <p:spPr>
          <a:xfrm>
            <a:off x="712351" y="558403"/>
            <a:ext cx="5238988" cy="5980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3750"/>
              <a:buFont typeface="Kanit"/>
              <a:buNone/>
            </a:pPr>
            <a:r>
              <a:rPr b="0" i="0" lang="en-US" sz="37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Cross-Course Integration</a:t>
            </a:r>
            <a:endParaRPr b="0" i="0" sz="3750" u="none" cap="none" strike="noStrike"/>
          </a:p>
        </p:txBody>
      </p:sp>
      <p:sp>
        <p:nvSpPr>
          <p:cNvPr id="117" name="Google Shape;117;p13"/>
          <p:cNvSpPr/>
          <p:nvPr/>
        </p:nvSpPr>
        <p:spPr>
          <a:xfrm>
            <a:off x="712351" y="1479352"/>
            <a:ext cx="13205579" cy="564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Martel Sans"/>
              <a:buNone/>
            </a:pP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The Python AI doesn't run in a vacuum. It compresses its status into </a:t>
            </a:r>
            <a:r>
              <a:rPr b="1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C-struct bytes</a:t>
            </a: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and sends it through a </a:t>
            </a:r>
            <a:r>
              <a:rPr b="1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POSIX Named Pipe</a:t>
            </a: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to our C++ backend — a seamless multi-language pipeline.</a:t>
            </a:r>
            <a:endParaRPr b="0" i="0" sz="1500" u="none" cap="none" strike="noStrike"/>
          </a:p>
        </p:txBody>
      </p:sp>
      <p:pic>
        <p:nvPicPr>
          <p:cNvPr descr="preencoded.png" id="118" name="Google Shape;11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0511" y="2225278"/>
            <a:ext cx="10269260" cy="4699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9" name="Google Shape;11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31965" y="3398710"/>
            <a:ext cx="660261" cy="66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/>
          <p:nvPr/>
        </p:nvSpPr>
        <p:spPr>
          <a:xfrm>
            <a:off x="10043713" y="5809079"/>
            <a:ext cx="1927965" cy="371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300"/>
              <a:buFont typeface="Kanit"/>
              <a:buNone/>
            </a:pPr>
            <a:r>
              <a:rPr b="0" i="0" lang="en-US" sz="23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PostgreSQL</a:t>
            </a:r>
            <a:endParaRPr b="0" i="0" sz="2300" u="none" cap="none" strike="noStrike"/>
          </a:p>
        </p:txBody>
      </p:sp>
      <p:pic>
        <p:nvPicPr>
          <p:cNvPr descr="preencoded.png" id="121" name="Google Shape;12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14787" y="3399949"/>
            <a:ext cx="660262" cy="66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3"/>
          <p:cNvSpPr/>
          <p:nvPr/>
        </p:nvSpPr>
        <p:spPr>
          <a:xfrm>
            <a:off x="7613949" y="5809079"/>
            <a:ext cx="1927965" cy="371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300"/>
              <a:buFont typeface="Kanit"/>
              <a:buNone/>
            </a:pPr>
            <a:r>
              <a:rPr b="0" i="0" lang="en-US" sz="23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C++ Backend</a:t>
            </a:r>
            <a:endParaRPr b="0" i="0" sz="2300" u="none" cap="none" strike="noStrike"/>
          </a:p>
        </p:txBody>
      </p:sp>
      <p:pic>
        <p:nvPicPr>
          <p:cNvPr descr="preencoded.png" id="123" name="Google Shape;12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98228" y="3399949"/>
            <a:ext cx="660262" cy="66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/>
          <p:nvPr/>
        </p:nvSpPr>
        <p:spPr>
          <a:xfrm>
            <a:off x="5197390" y="5809079"/>
            <a:ext cx="1927965" cy="371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300"/>
              <a:buFont typeface="Kanit"/>
              <a:buNone/>
            </a:pPr>
            <a:r>
              <a:rPr b="0" i="0" lang="en-US" sz="23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OS IPC</a:t>
            </a:r>
            <a:endParaRPr b="0" i="0" sz="2300" u="none" cap="none" strike="noStrike"/>
          </a:p>
        </p:txBody>
      </p:sp>
      <p:pic>
        <p:nvPicPr>
          <p:cNvPr descr="preencoded.png" id="125" name="Google Shape;12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68465" y="3399949"/>
            <a:ext cx="660262" cy="66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3"/>
          <p:cNvSpPr/>
          <p:nvPr/>
        </p:nvSpPr>
        <p:spPr>
          <a:xfrm>
            <a:off x="2728011" y="5809079"/>
            <a:ext cx="1927965" cy="371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300"/>
              <a:buFont typeface="Kanit"/>
              <a:buNone/>
            </a:pPr>
            <a:r>
              <a:rPr b="0" i="0" lang="en-US" sz="23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Python AI</a:t>
            </a:r>
            <a:endParaRPr b="0" i="0" sz="2300" u="none" cap="none" strike="noStrike"/>
          </a:p>
        </p:txBody>
      </p:sp>
      <p:sp>
        <p:nvSpPr>
          <p:cNvPr id="127" name="Google Shape;127;p13"/>
          <p:cNvSpPr/>
          <p:nvPr/>
        </p:nvSpPr>
        <p:spPr>
          <a:xfrm>
            <a:off x="712351" y="7106722"/>
            <a:ext cx="13205579" cy="564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Martel Sans"/>
              <a:buNone/>
            </a:pP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This architecture demonstrates real-world systems engineering: Python handles the AI logic, the OS layer manages safe IPC, C++ processes the data at speed, and PostgreSQL ensures analytics-ready storage with schema isolation to prevent data corruption.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/>
          <p:nvPr/>
        </p:nvSpPr>
        <p:spPr>
          <a:xfrm>
            <a:off x="756642" y="635079"/>
            <a:ext cx="5404842" cy="67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05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250"/>
              <a:buFont typeface="Kanit"/>
              <a:buNone/>
            </a:pPr>
            <a:r>
              <a:rPr b="0" i="0" lang="en-US" sz="42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Conclusion</a:t>
            </a:r>
            <a:endParaRPr b="0" i="0" sz="4250" u="none" cap="none" strike="noStrike"/>
          </a:p>
        </p:txBody>
      </p:sp>
      <p:sp>
        <p:nvSpPr>
          <p:cNvPr id="134" name="Google Shape;134;p14"/>
          <p:cNvSpPr/>
          <p:nvPr/>
        </p:nvSpPr>
        <p:spPr>
          <a:xfrm>
            <a:off x="756642" y="1830824"/>
            <a:ext cx="4200644" cy="713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5600"/>
              <a:buFont typeface="Kanit"/>
              <a:buNone/>
            </a:pPr>
            <a:r>
              <a:rPr b="0" i="0" lang="en-US" sz="56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O(n³)</a:t>
            </a:r>
            <a:endParaRPr b="0" i="0" sz="5600" u="none" cap="none" strike="noStrike"/>
          </a:p>
        </p:txBody>
      </p:sp>
      <p:sp>
        <p:nvSpPr>
          <p:cNvPr id="135" name="Google Shape;135;p14"/>
          <p:cNvSpPr/>
          <p:nvPr/>
        </p:nvSpPr>
        <p:spPr>
          <a:xfrm>
            <a:off x="1505783" y="2806779"/>
            <a:ext cx="2702362" cy="33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100"/>
              <a:buFont typeface="Kanit"/>
              <a:buNone/>
            </a:pPr>
            <a:r>
              <a:rPr b="0" i="0" lang="en-US" sz="21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Time Complexity</a:t>
            </a:r>
            <a:endParaRPr b="0" i="0" sz="2100" u="none" cap="none" strike="noStrike"/>
          </a:p>
        </p:txBody>
      </p:sp>
      <p:sp>
        <p:nvSpPr>
          <p:cNvPr id="136" name="Google Shape;136;p14"/>
          <p:cNvSpPr/>
          <p:nvPr/>
        </p:nvSpPr>
        <p:spPr>
          <a:xfrm>
            <a:off x="756642" y="3268147"/>
            <a:ext cx="4200644" cy="1013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00"/>
              <a:buFont typeface="Martel Sans"/>
              <a:buNone/>
            </a:pPr>
            <a:r>
              <a:rPr b="0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Guaranteed optimal assignment in polynomial time — scalable and predictable for real-world deployment.</a:t>
            </a:r>
            <a:endParaRPr b="0" i="0" sz="1700" u="none" cap="none" strike="noStrike"/>
          </a:p>
        </p:txBody>
      </p:sp>
      <p:sp>
        <p:nvSpPr>
          <p:cNvPr id="137" name="Google Shape;137;p14"/>
          <p:cNvSpPr/>
          <p:nvPr/>
        </p:nvSpPr>
        <p:spPr>
          <a:xfrm>
            <a:off x="5214818" y="1830824"/>
            <a:ext cx="4200644" cy="713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5600"/>
              <a:buFont typeface="Kanit"/>
              <a:buNone/>
            </a:pPr>
            <a:r>
              <a:rPr b="0" i="0" lang="en-US" sz="56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4</a:t>
            </a:r>
            <a:endParaRPr b="0" i="0" sz="5600" u="none" cap="none" strike="noStrike"/>
          </a:p>
        </p:txBody>
      </p:sp>
      <p:sp>
        <p:nvSpPr>
          <p:cNvPr id="138" name="Google Shape;138;p14"/>
          <p:cNvSpPr/>
          <p:nvPr/>
        </p:nvSpPr>
        <p:spPr>
          <a:xfrm>
            <a:off x="5963960" y="2806779"/>
            <a:ext cx="2702362" cy="33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100"/>
              <a:buFont typeface="Kanit"/>
              <a:buNone/>
            </a:pPr>
            <a:r>
              <a:rPr b="0" i="0" lang="en-US" sz="21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Weighted Factors</a:t>
            </a:r>
            <a:endParaRPr b="0" i="0" sz="2100" u="none" cap="none" strike="noStrike"/>
          </a:p>
        </p:txBody>
      </p:sp>
      <p:sp>
        <p:nvSpPr>
          <p:cNvPr id="139" name="Google Shape;139;p14"/>
          <p:cNvSpPr/>
          <p:nvPr/>
        </p:nvSpPr>
        <p:spPr>
          <a:xfrm>
            <a:off x="5214818" y="3268147"/>
            <a:ext cx="4200644" cy="1013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00"/>
              <a:buFont typeface="Martel Sans"/>
              <a:buNone/>
            </a:pPr>
            <a:r>
              <a:rPr b="0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Workload, Skill, Rank, and Location combined into a single intelligent cost matrix.</a:t>
            </a:r>
            <a:endParaRPr b="0" i="0" sz="1700" u="none" cap="none" strike="noStrike"/>
          </a:p>
        </p:txBody>
      </p:sp>
      <p:sp>
        <p:nvSpPr>
          <p:cNvPr id="140" name="Google Shape;140;p14"/>
          <p:cNvSpPr/>
          <p:nvPr/>
        </p:nvSpPr>
        <p:spPr>
          <a:xfrm>
            <a:off x="9672995" y="1830824"/>
            <a:ext cx="4200644" cy="713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5600"/>
              <a:buFont typeface="Kanit"/>
              <a:buNone/>
            </a:pPr>
            <a:r>
              <a:rPr b="0" i="0" lang="en-US" sz="56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0</a:t>
            </a:r>
            <a:endParaRPr b="0" i="0" sz="5600" u="none" cap="none" strike="noStrike"/>
          </a:p>
        </p:txBody>
      </p:sp>
      <p:sp>
        <p:nvSpPr>
          <p:cNvPr id="141" name="Google Shape;141;p14"/>
          <p:cNvSpPr/>
          <p:nvPr/>
        </p:nvSpPr>
        <p:spPr>
          <a:xfrm>
            <a:off x="10422136" y="2806779"/>
            <a:ext cx="2702362" cy="33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100"/>
              <a:buFont typeface="Kanit"/>
              <a:buNone/>
            </a:pPr>
            <a:r>
              <a:rPr b="0" i="0" lang="en-US" sz="21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Data Corruption Risk</a:t>
            </a:r>
            <a:endParaRPr b="0" i="0" sz="2100" u="none" cap="none" strike="noStrike"/>
          </a:p>
        </p:txBody>
      </p:sp>
      <p:sp>
        <p:nvSpPr>
          <p:cNvPr id="142" name="Google Shape;142;p14"/>
          <p:cNvSpPr/>
          <p:nvPr/>
        </p:nvSpPr>
        <p:spPr>
          <a:xfrm>
            <a:off x="9672995" y="3268147"/>
            <a:ext cx="4200644" cy="1013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00"/>
              <a:buFont typeface="Martel Sans"/>
              <a:buNone/>
            </a:pPr>
            <a:r>
              <a:rPr b="0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DB schema isolation and strict IPC protocols prevent cross-process data corruption entirely.</a:t>
            </a:r>
            <a:endParaRPr b="0" i="0" sz="1700" u="none" cap="none" strike="noStrike"/>
          </a:p>
        </p:txBody>
      </p:sp>
      <p:sp>
        <p:nvSpPr>
          <p:cNvPr id="143" name="Google Shape;143;p14"/>
          <p:cNvSpPr/>
          <p:nvPr/>
        </p:nvSpPr>
        <p:spPr>
          <a:xfrm>
            <a:off x="756642" y="4513302"/>
            <a:ext cx="13117116" cy="1228844"/>
          </a:xfrm>
          <a:prstGeom prst="roundRect">
            <a:avLst>
              <a:gd fmla="val 7389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741" y="4815126"/>
            <a:ext cx="270153" cy="21609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4"/>
          <p:cNvSpPr/>
          <p:nvPr/>
        </p:nvSpPr>
        <p:spPr>
          <a:xfrm>
            <a:off x="1458992" y="4773216"/>
            <a:ext cx="12198668" cy="675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artel Sans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Martel Sans"/>
                <a:ea typeface="Martel Sans"/>
                <a:cs typeface="Martel Sans"/>
                <a:sym typeface="Martel Sans"/>
              </a:rPr>
              <a:t>JusticeFlow AI</a:t>
            </a:r>
            <a:r>
              <a:rPr b="0" i="0" lang="en-US" sz="1700" u="none" cap="none" strike="noStrike">
                <a:solidFill>
                  <a:srgbClr val="000000"/>
                </a:solidFill>
                <a:latin typeface="Martel Sans"/>
                <a:ea typeface="Martel Sans"/>
                <a:cs typeface="Martel Sans"/>
                <a:sym typeface="Martel Sans"/>
              </a:rPr>
              <a:t> replaces guesswork with mathematical optimisation — ensuring every officer gets the right case, at the right time, with the right capacity.</a:t>
            </a:r>
            <a:endParaRPr b="0" i="0" sz="1700" u="none" cap="none" strike="noStrike"/>
          </a:p>
        </p:txBody>
      </p:sp>
      <p:sp>
        <p:nvSpPr>
          <p:cNvPr id="146" name="Google Shape;146;p14"/>
          <p:cNvSpPr/>
          <p:nvPr/>
        </p:nvSpPr>
        <p:spPr>
          <a:xfrm>
            <a:off x="756642" y="6027896"/>
            <a:ext cx="13117116" cy="16193"/>
          </a:xfrm>
          <a:prstGeom prst="rect">
            <a:avLst/>
          </a:prstGeom>
          <a:solidFill>
            <a:srgbClr val="2C324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"/>
          <p:cNvSpPr/>
          <p:nvPr/>
        </p:nvSpPr>
        <p:spPr>
          <a:xfrm>
            <a:off x="756642" y="6407110"/>
            <a:ext cx="4323874" cy="540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3400"/>
              <a:buFont typeface="Kanit"/>
              <a:buNone/>
            </a:pPr>
            <a:r>
              <a:rPr b="0" i="0" lang="en-US" sz="34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Thank You!</a:t>
            </a:r>
            <a:endParaRPr b="0" i="0" sz="3400" u="none" cap="none" strike="noStrike"/>
          </a:p>
        </p:txBody>
      </p:sp>
      <p:sp>
        <p:nvSpPr>
          <p:cNvPr id="148" name="Google Shape;148;p14"/>
          <p:cNvSpPr/>
          <p:nvPr/>
        </p:nvSpPr>
        <p:spPr>
          <a:xfrm>
            <a:off x="756642" y="7256740"/>
            <a:ext cx="13117116" cy="33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00"/>
              <a:buFont typeface="Martel Sans"/>
              <a:buNone/>
            </a:pPr>
            <a:r>
              <a:rPr b="0" i="0" lang="en-US" sz="1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Abdullah Muaz Abbasi · Muhammad Furqan · Muhammad Abu Bakar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